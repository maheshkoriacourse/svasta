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4334256" cy="68580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73736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 i="0">
                <a:solidFill>
                  <a:srgbClr val="E9B44C"/>
                </a:solidFill>
                <a:latin typeface="Calibri"/>
              </a:rPr>
              <a:t>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06324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9B44C"/>
                </a:solidFill>
                <a:latin typeface="Georgia"/>
              </a:rPr>
              <a:t>SVASTA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840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AF6EF"/>
                </a:solidFill>
                <a:latin typeface="Calibri"/>
              </a:rPr>
              <a:t>AYURVEDA ·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B44C"/>
                </a:solidFill>
                <a:latin typeface="Calibri"/>
              </a:rPr>
              <a:t>INVESTOR &amp; PARTNER BRIEFING —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AF6EF"/>
                </a:solidFill>
                <a:latin typeface="Georgia"/>
              </a:rPr>
              <a:t>Ancient Wisdom.</a:t>
            </a:r>
          </a:p>
          <a:p>
            <a:pPr algn="l"/>
            <a:r>
              <a:rPr sz="5200" b="1" i="0">
                <a:solidFill>
                  <a:srgbClr val="FAF6EF"/>
                </a:solidFill>
                <a:latin typeface="Georgia"/>
              </a:rPr>
              <a:t>Bottled for</a:t>
            </a:r>
          </a:p>
          <a:p>
            <a:pPr algn="l"/>
            <a:r>
              <a:rPr sz="5200" b="1" i="0">
                <a:solidFill>
                  <a:srgbClr val="FAF6EF"/>
                </a:solidFill>
                <a:latin typeface="Georgia"/>
              </a:rPr>
              <a:t>the World.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7E4DC"/>
                </a:solidFill>
                <a:latin typeface="Calibri"/>
              </a:rPr>
              <a:t>The global ayurvedic wellness beverage company —</a:t>
            </a:r>
          </a:p>
          <a:p>
            <a:pPr algn="l"/>
            <a:r>
              <a:rPr sz="1600" b="0" i="0">
                <a:solidFill>
                  <a:srgbClr val="D7E4DC"/>
                </a:solidFill>
                <a:latin typeface="Calibri"/>
              </a:rPr>
              <a:t>5,000 farmers · 12 countries · zero compromise.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FB8A8"/>
                </a:solidFill>
                <a:latin typeface="Calibri"/>
              </a:rPr>
              <a:t>CONFIDENTIAL · SVASTA WELLNESS PVT.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9B44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The world is switching its drink.</a:t>
            </a:r>
          </a:p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Ayurveda is the answer it hasn't tasted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1B4332"/>
                </a:solidFill>
                <a:latin typeface="Calibri"/>
              </a:rPr>
              <a:t>$1.9T  </a:t>
            </a:r>
            <a:r>
              <a:rPr sz="1400">
                <a:solidFill>
                  <a:srgbClr val="22301F"/>
                </a:solidFill>
                <a:latin typeface="Calibri"/>
              </a:rPr>
              <a:t>global wellness economy — beverages are its fastest-growing aisle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B4332"/>
                </a:solidFill>
                <a:latin typeface="Calibri"/>
              </a:rPr>
              <a:t>$54B  </a:t>
            </a:r>
            <a:r>
              <a:rPr sz="1400">
                <a:solidFill>
                  <a:srgbClr val="22301F"/>
                </a:solidFill>
                <a:latin typeface="Calibri"/>
              </a:rPr>
              <a:t>herbal &amp; botanical drinks market by 2030 (9.1% CAGR)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B4332"/>
                </a:solidFill>
                <a:latin typeface="Calibri"/>
              </a:rPr>
              <a:t>68%  </a:t>
            </a:r>
            <a:r>
              <a:rPr sz="1400">
                <a:solidFill>
                  <a:srgbClr val="22301F"/>
                </a:solidFill>
                <a:latin typeface="Calibri"/>
              </a:rPr>
              <a:t>of global consumers read ingredient labels before buying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B4332"/>
                </a:solidFill>
                <a:latin typeface="Calibri"/>
              </a:rPr>
              <a:t>Zero  </a:t>
            </a:r>
            <a:r>
              <a:rPr sz="1400">
                <a:solidFill>
                  <a:srgbClr val="22301F"/>
                </a:solidFill>
                <a:latin typeface="Calibri"/>
              </a:rPr>
              <a:t>home-grown global ayurvedic beverage brand — the captain's seat is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514600"/>
            <a:ext cx="4937760" cy="33832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788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B44C"/>
                </a:solidFill>
                <a:latin typeface="Calibri"/>
              </a:rP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9184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6EF"/>
                </a:solidFill>
                <a:latin typeface="Calibri"/>
              </a:rPr>
              <a:t>• Post-pandemic immunity is a permanent purchase driver</a:t>
            </a:r>
          </a:p>
          <a:p>
            <a:pPr algn="l"/>
            <a:r>
              <a:rPr sz="1400" b="0" i="0">
                <a:solidFill>
                  <a:srgbClr val="FAF6EF"/>
                </a:solidFill>
                <a:latin typeface="Calibri"/>
              </a:rPr>
              <a:t>• Sugar taxes &amp; clean-label rules reshape soft drinks</a:t>
            </a:r>
          </a:p>
          <a:p>
            <a:pPr algn="l"/>
            <a:r>
              <a:rPr sz="1400" b="0" i="0">
                <a:solidFill>
                  <a:srgbClr val="FAF6EF"/>
                </a:solidFill>
                <a:latin typeface="Calibri"/>
              </a:rPr>
              <a:t>• 180M+ yoga/ayurveda practitioner mindshare worldwide</a:t>
            </a:r>
          </a:p>
          <a:p>
            <a:pPr algn="l"/>
            <a:r>
              <a:rPr sz="1400" b="0" i="0">
                <a:solidFill>
                  <a:srgbClr val="FAF6EF"/>
                </a:solidFill>
                <a:latin typeface="Calibri"/>
              </a:rPr>
              <a:t>• India's wellness exports grew 4x in five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6B5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BRAND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Georgia"/>
              </a:rPr>
              <a:t>From a grandmother's kitchen in Kerala</a:t>
            </a:r>
          </a:p>
          <a:p>
            <a:pPr algn="l"/>
            <a:r>
              <a:rPr sz="3200" b="1" i="0">
                <a:solidFill>
                  <a:srgbClr val="1B4332"/>
                </a:solidFill>
                <a:latin typeface="Georgia"/>
              </a:rPr>
              <a:t>to shelves on four continents.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97480"/>
            <a:ext cx="512064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971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THE BELIEF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8328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C6B58"/>
                </a:solidFill>
                <a:latin typeface="Calibri"/>
              </a:rPr>
              <a:t>The world's oldest science of wellbeing deserves the world's newest standards of quality.</a:t>
            </a:r>
          </a:p>
          <a:p>
            <a:pPr algn="l"/>
            <a:r>
              <a:rPr sz="1350" b="0" i="0">
                <a:solidFill>
                  <a:srgbClr val="5C6B58"/>
                </a:solidFill>
                <a:latin typeface="Calibri"/>
              </a:rPr>
              <a:t/>
            </a:r>
          </a:p>
          <a:p>
            <a:pPr algn="l"/>
            <a:r>
              <a:rPr sz="1350" b="0" i="0">
                <a:solidFill>
                  <a:srgbClr val="5C6B58"/>
                </a:solidFill>
                <a:latin typeface="Calibri"/>
              </a:rPr>
              <a:t>SVASTA — from 'svastha': established in one's own best self. We don't bottle a drink; we bottle a daily ritual of returning to balance.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697480"/>
            <a:ext cx="5074920" cy="32461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971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B44C"/>
                </a:solidFill>
                <a:latin typeface="Calibri"/>
              </a:rPr>
              <a:t>THE FOUNDER'S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4290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AF6EF"/>
                </a:solidFill>
                <a:latin typeface="Georgia"/>
              </a:rPr>
              <a:t>"My mother healed our whole street with a copper pot and seven herbs. SVASTA is that copper pot — reforged in steel, standardised in labs, shipped to the world."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349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B44C"/>
                </a:solidFill>
                <a:latin typeface="Calibri"/>
              </a:rPr>
              <a:t>— Mahesh Koria, Founder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6B5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THE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Four Rituals. Every Body. Every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256032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2560320" cy="128016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1F"/>
                </a:solidFill>
                <a:latin typeface="Calibri"/>
              </a:rPr>
              <a:t>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Georgia"/>
              </a:rPr>
              <a:t>SVASTA GOLDEN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1502E"/>
                </a:solidFill>
                <a:latin typeface="Calibri"/>
              </a:rPr>
              <a:t>IMMUNITY + VITALITY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1F"/>
                </a:solidFill>
                <a:latin typeface="Calibri"/>
              </a:rPr>
              <a:t>Turmeric · Ashwagandha · Tulsi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C6B58"/>
                </a:solidFill>
                <a:latin typeface="Calibri"/>
              </a:rPr>
              <a:t>22 kcal · zero refined sugar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332"/>
                </a:solidFill>
                <a:latin typeface="Calibri"/>
              </a:rPr>
              <a:t>$3.49 / 250ml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783080"/>
            <a:ext cx="256032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783080"/>
            <a:ext cx="2560320" cy="128016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1F"/>
                </a:solidFill>
                <a:latin typeface="Calibri"/>
              </a:rPr>
              <a:t>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834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Georgia"/>
              </a:rPr>
              <a:t>SVASTA 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246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1502E"/>
                </a:solidFill>
                <a:latin typeface="Calibri"/>
              </a:rPr>
              <a:t>FOCUS + CALM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657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1F"/>
                </a:solidFill>
                <a:latin typeface="Calibri"/>
              </a:rPr>
              <a:t>Amla · Brahmi · Mint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C6B58"/>
                </a:solidFill>
                <a:latin typeface="Calibri"/>
              </a:rPr>
              <a:t>18 kcal · natural vitamin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332"/>
                </a:solidFill>
                <a:latin typeface="Calibri"/>
              </a:rPr>
              <a:t>$3.49 / 250ml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783080"/>
            <a:ext cx="256032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783080"/>
            <a:ext cx="2560320" cy="128016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1F"/>
                </a:solidFill>
                <a:latin typeface="Calibri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34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Georgia"/>
              </a:rPr>
              <a:t>SVASTA BOOST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46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1502E"/>
                </a:solidFill>
                <a:latin typeface="Calibri"/>
              </a:rPr>
              <a:t>ENERGY, NO CRASH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1F"/>
                </a:solidFill>
                <a:latin typeface="Calibri"/>
              </a:rPr>
              <a:t>Shatavari · Gokshura · Ginger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C6B58"/>
                </a:solidFill>
                <a:latin typeface="Calibri"/>
              </a:rPr>
              <a:t>25 kcal · electrolytes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332"/>
                </a:solidFill>
                <a:latin typeface="Calibri"/>
              </a:rPr>
              <a:t>$3.99 / 250ml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1783080"/>
            <a:ext cx="256032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1783080"/>
            <a:ext cx="2560320" cy="128016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1F"/>
                </a:solidFill>
                <a:latin typeface="Calibri"/>
              </a:rPr>
              <a:t>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834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Georgia"/>
              </a:rPr>
              <a:t>SVASTA NIGHT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246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1502E"/>
                </a:solidFill>
                <a:latin typeface="Calibri"/>
              </a:rPr>
              <a:t>DEEP 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657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1F"/>
                </a:solidFill>
                <a:latin typeface="Calibri"/>
              </a:rPr>
              <a:t>Jatamansi · Chamomile · Nutmeg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C6B58"/>
                </a:solidFill>
                <a:latin typeface="Calibri"/>
              </a:rPr>
              <a:t>15 kcal · melatonin-free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332"/>
                </a:solidFill>
                <a:latin typeface="Calibri"/>
              </a:rPr>
              <a:t>$3.99 / 250ml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C6B58"/>
                </a:solidFill>
                <a:latin typeface="Calibri"/>
              </a:rPr>
              <a:t>Classical ayurvedic pairings, standardised to clinical-grade actives. Zero artificial anything — in every market, no exceptions.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6B5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B44C"/>
                </a:solidFill>
                <a:latin typeface="Calibri"/>
              </a:rPr>
              <a:t>GROWTH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F6EF"/>
                </a:solidFill>
                <a:latin typeface="Georgia"/>
              </a:rPr>
              <a:t>The Viral Engine: What's Your Dosha?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7E4DC"/>
                </a:solidFill>
                <a:latin typeface="Calibri"/>
              </a:rPr>
              <a:t>A 60-second quiz maps your ayurvedic dosha and assigns your daily ritual. Every result card is built to be shared — customers become the marketing department.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023360"/>
            <a:ext cx="2377440" cy="15544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65345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B44C"/>
                </a:solidFill>
                <a:latin typeface="Georgia"/>
              </a:rPr>
              <a:t>2.1M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78324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7E4DC"/>
                </a:solidFill>
                <a:latin typeface="Calibri"/>
              </a:rPr>
              <a:t>quiz completions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4023360"/>
            <a:ext cx="2377440" cy="15544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365345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B44C"/>
                </a:solidFill>
                <a:latin typeface="Georgia"/>
              </a:rPr>
              <a:t>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878324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7E4DC"/>
                </a:solidFill>
                <a:latin typeface="Calibri"/>
              </a:rPr>
              <a:t>share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023360"/>
            <a:ext cx="2377440" cy="15544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365345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B44C"/>
                </a:solidFill>
                <a:latin typeface="Georgia"/>
              </a:rPr>
              <a:t>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878324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7E4DC"/>
                </a:solidFill>
                <a:latin typeface="Calibri"/>
              </a:rPr>
              <a:t>buy-after-quiz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4023360"/>
            <a:ext cx="2377440" cy="15544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4365345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B44C"/>
                </a:solidFill>
                <a:latin typeface="Georgia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878324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7E4DC"/>
                </a:solidFill>
                <a:latin typeface="Calibri"/>
              </a:rPr>
              <a:t>seed-phase adspend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737360"/>
            <a:ext cx="5029200" cy="19659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B44C"/>
                </a:solidFill>
                <a:latin typeface="Calibri"/>
              </a:rPr>
              <a:t>CAMPAIGN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423160"/>
            <a:ext cx="4434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AF6EF"/>
                </a:solidFill>
                <a:latin typeface="Calibri"/>
              </a:rPr>
              <a:t>#MyDoshaMyRitual — always-on quiz engine</a:t>
            </a:r>
          </a:p>
          <a:p>
            <a:pPr algn="l"/>
            <a:r>
              <a:rPr sz="1350" b="0" i="0">
                <a:solidFill>
                  <a:srgbClr val="FAF6EF"/>
                </a:solidFill>
                <a:latin typeface="Calibri"/>
              </a:rPr>
              <a:t>#SwapTheSoda — 30-day UGC challenge (9 markets)</a:t>
            </a:r>
          </a:p>
          <a:p>
            <a:pPr algn="l"/>
            <a:r>
              <a:rPr sz="1350" b="0" i="0">
                <a:solidFill>
                  <a:srgbClr val="FAF6EF"/>
                </a:solidFill>
                <a:latin typeface="Calibri"/>
              </a:rPr>
              <a:t>#HarGharSwasth — India home-wellness movement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9B44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AYURVEDA,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Tradition You Can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6B58"/>
                </a:solidFill>
                <a:latin typeface="Calibri"/>
              </a:rPr>
              <a:t>We honour the classical texts — and we test like a pharma lab. That is the SVASTA standard.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51760"/>
            <a:ext cx="34290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74796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4332"/>
                </a:solidFill>
                <a:latin typeface="Georgia"/>
              </a:rPr>
              <a:t>40+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59352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C6B58"/>
                </a:solidFill>
                <a:latin typeface="Calibri"/>
              </a:rPr>
              <a:t>standardised actives — every herb lot fingerprinted before it enters a bottle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651760"/>
            <a:ext cx="34290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3174796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4332"/>
                </a:solidFill>
                <a:latin typeface="Georgia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59352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C6B58"/>
                </a:solidFill>
                <a:latin typeface="Calibri"/>
              </a:rPr>
              <a:t>university partnerships — ongoing clinical collaborations, India &amp; EU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651760"/>
            <a:ext cx="34290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174796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4332"/>
                </a:solidFill>
                <a:latin typeface="Georg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959352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C6B58"/>
                </a:solidFill>
                <a:latin typeface="Calibri"/>
              </a:rPr>
              <a:t>artificial colours, flavours, preservatives or refined sugar — ever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440680"/>
            <a:ext cx="10652760" cy="822960"/>
          </a:xfrm>
          <a:prstGeom prst="rect">
            <a:avLst/>
          </a:prstGeom>
          <a:solidFill>
            <a:srgbClr val="F1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623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332"/>
                </a:solidFill>
                <a:latin typeface="Calibri"/>
              </a:rPr>
              <a:t>Certifications: FSSAI · USDA Organic · EU Organic · AYUSH · HACCP + GMP · Halal · Kosher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6B5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GLOBAL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Born in India. Poured Everywhere.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5146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93899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4332"/>
                </a:solidFill>
                <a:latin typeface="Georgia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67228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C6B58"/>
                </a:solidFill>
                <a:latin typeface="Calibri"/>
              </a:rPr>
              <a:t>countries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2011680"/>
            <a:ext cx="25146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393899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4332"/>
                </a:solidFill>
                <a:latin typeface="Georgia"/>
              </a:rPr>
              <a:t>1,400+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67228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C6B58"/>
                </a:solidFill>
                <a:latin typeface="Calibri"/>
              </a:rPr>
              <a:t>retail doors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25146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393899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4332"/>
                </a:solidFill>
                <a:latin typeface="Georgia"/>
              </a:rP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967228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C6B58"/>
                </a:solidFill>
                <a:latin typeface="Calibri"/>
              </a:rPr>
              <a:t>online markets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011680"/>
            <a:ext cx="246888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39389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4332"/>
                </a:solidFill>
                <a:latin typeface="Georgia"/>
              </a:rPr>
              <a:t>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96722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C6B58"/>
                </a:solidFill>
                <a:latin typeface="Calibri"/>
              </a:rPr>
              <a:t>D2C repeat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PHASE-2 WAVE (2027-28)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301F"/>
                </a:solidFill>
                <a:latin typeface="Calibri"/>
              </a:rPr>
              <a:t>🇮🇳 India (HQ) · 🇦🇪 UAE · 🇸🇦 KSA · 🇬🇧 UK · 🇺🇸 USA</a:t>
            </a:r>
          </a:p>
          <a:p>
            <a:pPr algn="l"/>
            <a:r>
              <a:rPr sz="1500" b="0" i="0">
                <a:solidFill>
                  <a:srgbClr val="22301F"/>
                </a:solidFill>
                <a:latin typeface="Calibri"/>
              </a:rPr>
              <a:t>🇸🇬 Singapore · 🇩🇪 Germany · 🇫🇷 France · 🇨🇦 Canada</a:t>
            </a:r>
          </a:p>
          <a:p>
            <a:pPr algn="l"/>
            <a:r>
              <a:rPr sz="1500" b="0" i="0">
                <a:solidFill>
                  <a:srgbClr val="22301F"/>
                </a:solidFill>
                <a:latin typeface="Calibri"/>
              </a:rPr>
              <a:t>🇦🇺 Australia · 🇯🇵 Japan · 🇳🇱 Netherlands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120640" cy="19659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480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B44C"/>
                </a:solidFill>
                <a:latin typeface="Calibri"/>
              </a:rPr>
              <a:t>NEXT-GEN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93776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6EF"/>
                </a:solidFill>
                <a:latin typeface="Calibri"/>
              </a:rPr>
              <a:t>Q1: Korea &amp; Brazil via e-comm-only</a:t>
            </a:r>
          </a:p>
          <a:p>
            <a:pPr algn="l"/>
            <a:r>
              <a:rPr sz="1400" b="0" i="0">
                <a:solidFill>
                  <a:srgbClr val="FAF6EF"/>
                </a:solidFill>
                <a:latin typeface="Calibri"/>
              </a:rPr>
              <a:t>Q3: Nordic retail via partner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6B5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DISTRIBUTION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Every Shelf. Every Screen. Every 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3832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1F"/>
                </a:solidFill>
                <a:latin typeface="Calibri"/>
              </a:rPr>
              <a:t>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4332"/>
                </a:solidFill>
                <a:latin typeface="Georgia"/>
              </a:rPr>
              <a:t>Modern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10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1502E"/>
                </a:solidFill>
                <a:latin typeface="Calibri"/>
              </a:rPr>
              <a:t>42% of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C6B58"/>
                </a:solidFill>
                <a:latin typeface="Calibri"/>
              </a:rPr>
              <a:t>1,400+ premium grocery, convenience &amp; pharmacy doors; planogram leadership in 6 chains.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920240"/>
            <a:ext cx="33832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1F"/>
                </a:solidFill>
                <a:latin typeface="Calibr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71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4332"/>
                </a:solidFill>
                <a:latin typeface="Georgia"/>
              </a:rPr>
              <a:t>D2C &amp; Marketplaces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10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1502E"/>
                </a:solidFill>
                <a:latin typeface="Calibri"/>
              </a:rPr>
              <a:t>35% of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7947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C6B58"/>
                </a:solidFill>
                <a:latin typeface="Calibri"/>
              </a:rPr>
              <a:t>svasta.com subscription ritual boxes + Amazon, Flipkart, Noon, iHerb. 94% repeat 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3832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1945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1F"/>
                </a:solidFill>
                <a:latin typeface="Calibri"/>
              </a:rPr>
              <a:t>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4332"/>
                </a:solidFill>
                <a:latin typeface="Georgia"/>
              </a:rPr>
              <a:t>HoReCa &amp; Airlines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10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1502E"/>
                </a:solidFill>
                <a:latin typeface="Calibri"/>
              </a:rPr>
              <a:t>23% of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7947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C6B58"/>
                </a:solidFill>
                <a:latin typeface="Calibri"/>
              </a:rPr>
              <a:t>5-star spas, gyms, cafés; onboard menus with 3 international carriers.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C6B58"/>
                </a:solidFill>
                <a:latin typeface="Calibri"/>
              </a:rPr>
              <a:t>Cold-chain certified logistics · 48-hour metro delivery · single global brand book, local campaign playbook per market.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6B5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B44C"/>
                </a:solidFill>
                <a:latin typeface="Calibri"/>
              </a:rP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6EF"/>
                </a:solidFill>
                <a:latin typeface="Georgia"/>
              </a:rPr>
              <a:t>Good for You. Good for the Grower.</a:t>
            </a:r>
          </a:p>
          <a:p>
            <a:pPr algn="l"/>
            <a:r>
              <a:rPr sz="2800" b="1" i="0">
                <a:solidFill>
                  <a:srgbClr val="FAF6EF"/>
                </a:solidFill>
                <a:latin typeface="Georgia"/>
              </a:rPr>
              <a:t>Good for the Ground.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51760"/>
            <a:ext cx="2514600" cy="31089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B44C"/>
                </a:solidFill>
                <a:latin typeface="Georgia"/>
              </a:rPr>
              <a:t>5,000+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F6EF"/>
                </a:solidFill>
                <a:latin typeface="Calibri"/>
              </a:rPr>
              <a:t>Farmer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2057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7E4DC"/>
                </a:solidFill>
                <a:latin typeface="Calibri"/>
              </a:rPr>
              <a:t>Direct-sourcing clusters; 3x-market organic premiums; zero-debt goal by 2028.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2651760"/>
            <a:ext cx="2514600" cy="31089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971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B44C"/>
                </a:solidFill>
                <a:latin typeface="Georgia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703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F6EF"/>
                </a:solidFill>
                <a:latin typeface="Calibri"/>
              </a:rPr>
              <a:t>Circular Packaging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160520"/>
            <a:ext cx="2057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7E4DC"/>
                </a:solidFill>
                <a:latin typeface="Calibri"/>
              </a:rPr>
              <a:t>Glass-first today; 90% rPET by 2027; zero packaging-to-landfill by 2030.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51760"/>
            <a:ext cx="2514600" cy="31089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71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B44C"/>
                </a:solidFill>
                <a:latin typeface="Georgia"/>
              </a:rPr>
              <a:t>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F6EF"/>
                </a:solidFill>
                <a:latin typeface="Calibri"/>
              </a:rPr>
              <a:t>Water-Positive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60520"/>
            <a:ext cx="2057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7E4DC"/>
                </a:solidFill>
                <a:latin typeface="Calibri"/>
              </a:rPr>
              <a:t>Rainwater harvest + watershed restoration in every sourcing district.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651760"/>
            <a:ext cx="2514600" cy="31089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9718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B44C"/>
                </a:solidFill>
                <a:latin typeface="Georgia"/>
              </a:rPr>
              <a:t>Net-0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703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F6EF"/>
                </a:solidFill>
                <a:latin typeface="Calibri"/>
              </a:rPr>
              <a:t>Carbon 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160520"/>
            <a:ext cx="2057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7E4DC"/>
                </a:solidFill>
                <a:latin typeface="Calibri"/>
              </a:rPr>
              <a:t>Solar-powered plants now; full value-chain neutrality, independently audited.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7E4DC"/>
                </a:solidFill>
                <a:latin typeface="Calibri"/>
              </a:rPr>
              <a:t>All 2030 commitments audited annually and published openly — wellness that costs the earth is not wellness.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9B44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Unit Economics That Compound.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102766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432304"/>
                <a:gridCol w="2651760"/>
                <a:gridCol w="265176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AF6E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AF6EF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AF6EF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AF6EF"/>
                          </a:solidFill>
                          <a:latin typeface="Calibri"/>
                        </a:rPr>
                        <a:t>Year 5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Net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$4.2M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$46M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$140M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>
                    <a:solidFill>
                      <a:srgbClr val="F1E8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>
                    <a:solidFill>
                      <a:srgbClr val="F1E8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>
                    <a:solidFill>
                      <a:srgbClr val="F1E8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>
                    <a:solidFill>
                      <a:srgbClr val="F1E8D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EBITDA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-12%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D2C share</a:t>
                      </a:r>
                    </a:p>
                  </a:txBody>
                  <a:tcPr>
                    <a:solidFill>
                      <a:srgbClr val="F1E8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>
                    <a:solidFill>
                      <a:srgbClr val="F1E8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>
                    <a:solidFill>
                      <a:srgbClr val="F1E8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1E8D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LTV / CAC (D2C)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3.1x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4.4x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301F"/>
                          </a:solidFill>
                          <a:latin typeface="Calibri"/>
                        </a:rPr>
                        <a:t>5.2x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C6B58"/>
                </a:solidFill>
                <a:latin typeface="Calibri"/>
              </a:rPr>
              <a:t>Model: subscription-first D2C for data &amp; margin, modern trade for scale, HoReCa for margin + brand theatre. Unit economics positive per market at ~18 months; group EBITDA positive in Year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6B5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Built by Operators. Guided by Healers.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42900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429000" cy="10972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71700" y="2240280"/>
            <a:ext cx="731520" cy="731520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2A1D"/>
                </a:solidFill>
                <a:latin typeface="Georgia"/>
              </a:rPr>
              <a:t>MK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4332"/>
                </a:solidFill>
                <a:latin typeface="Georgia"/>
              </a:rPr>
              <a:t>Mahesh Koria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1502E"/>
                </a:solidFill>
                <a:latin typeface="Calibri"/>
              </a:rPr>
              <a:t>FOUNDER &amp;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23360"/>
            <a:ext cx="2788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6B58"/>
                </a:solidFill>
                <a:latin typeface="Calibri"/>
              </a:rPr>
              <a:t>JBIMS MBA; 19+ years scaling BFSI operations &amp; data businesses. From Dharavi — raised by a maid who believed in plants and prayer. SVASTA is his love letter to both.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920240"/>
            <a:ext cx="342900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29300" y="2240280"/>
            <a:ext cx="731520" cy="731520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2A1D"/>
                </a:solidFill>
                <a:latin typeface="Georgia"/>
              </a:rPr>
              <a:t>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546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4332"/>
                </a:solidFill>
                <a:latin typeface="Georgia"/>
              </a:rPr>
              <a:t>Dr. Anaya Raghavan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118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1502E"/>
                </a:solidFill>
                <a:latin typeface="Calibri"/>
              </a:rPr>
              <a:t>CHIEF SCIENCE OFFICER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023360"/>
            <a:ext cx="2788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6B58"/>
                </a:solidFill>
                <a:latin typeface="Calibri"/>
              </a:rPr>
              <a:t>PhD Pharmacognosy (IIT Bombay); 15 years in phytochemical standardisation; leads the clinical validation program.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42900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86900" y="2240280"/>
            <a:ext cx="731520" cy="731520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2A1D"/>
                </a:solidFill>
                <a:latin typeface="Georgia"/>
              </a:rPr>
              <a:t>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4332"/>
                </a:solidFill>
                <a:latin typeface="Georgia"/>
              </a:rPr>
              <a:t>Rohan Sharma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118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1502E"/>
                </a:solidFill>
                <a:latin typeface="Calibri"/>
              </a:rPr>
              <a:t>CHIEF COMMERCIAL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023360"/>
            <a:ext cx="2788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6B58"/>
                </a:solidFill>
                <a:latin typeface="Calibri"/>
              </a:rPr>
              <a:t>Ex-global beverages VP; built 40-market distribution networks across GCC, EU and APAC.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6B5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502E"/>
                </a:solidFill>
                <a:latin typeface="Calibri"/>
              </a:rPr>
              <a:t>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4332"/>
                </a:solidFill>
                <a:latin typeface="Georgia"/>
              </a:rPr>
              <a:t>We Grow With the Best.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3429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762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4332"/>
                </a:solidFill>
                <a:latin typeface="Calibri"/>
              </a:rPr>
              <a:t>5,000-Farm Sourcing Collective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011680"/>
            <a:ext cx="3429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762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4332"/>
                </a:solidFill>
                <a:latin typeface="Calibri"/>
              </a:rPr>
              <a:t>Taj Wellness Spas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011680"/>
            <a:ext cx="3429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762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4332"/>
                </a:solidFill>
                <a:latin typeface="Calibri"/>
              </a:rPr>
              <a:t>Emirates First-Class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63240"/>
            <a:ext cx="3429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278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4332"/>
                </a:solidFill>
                <a:latin typeface="Calibri"/>
              </a:rPr>
              <a:t>NABL Labs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3063240"/>
            <a:ext cx="3429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2278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4332"/>
                </a:solidFill>
                <a:latin typeface="Calibri"/>
              </a:rPr>
              <a:t>AIIMS Research Program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063240"/>
            <a:ext cx="3429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2278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4332"/>
                </a:solidFill>
                <a:latin typeface="Calibri"/>
              </a:rPr>
              <a:t>Nature's Basket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14800"/>
            <a:ext cx="3429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793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4332"/>
                </a:solidFill>
                <a:latin typeface="Calibri"/>
              </a:rPr>
              <a:t>Amazon Global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114800"/>
            <a:ext cx="3429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2793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1B4332"/>
                </a:solidFill>
                <a:latin typeface="Calibri"/>
              </a:rPr>
              <a:t>Whole Foods EU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C6B58"/>
                </a:solidFill>
                <a:latin typeface="Calibri"/>
              </a:rPr>
              <a:t>Partnership thesis: credibility partners for science, reach partners for distribution, culture partners for 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C6B5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B44C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F6EF"/>
                </a:solidFill>
                <a:latin typeface="Georgia"/>
              </a:rPr>
              <a:t>From 12 Countries to a Global Category.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429000" cy="32918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B44C"/>
                </a:solidFill>
                <a:latin typeface="Georgia"/>
              </a:rPr>
              <a:t>2026-27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F6EF"/>
                </a:solidFill>
                <a:latin typeface="Calibri"/>
              </a:rPr>
              <a:t>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7E4DC"/>
                </a:solidFill>
                <a:latin typeface="Calibri"/>
              </a:rPr>
              <a:t>Deepen India + GCC; subscription engine to 100k rituals/month; 2 clinical studies published.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103120"/>
            <a:ext cx="3429000" cy="32918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B44C"/>
                </a:solidFill>
                <a:latin typeface="Georgia"/>
              </a:rPr>
              <a:t>2027-28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F6EF"/>
                </a:solidFill>
                <a:latin typeface="Calibri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7E4DC"/>
                </a:solidFill>
                <a:latin typeface="Calibri"/>
              </a:rPr>
              <a:t>EU + APAC retail push; 1,400 → 4,000 doors; rPET line; ₹700M ARR run-rate.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103120"/>
            <a:ext cx="3429000" cy="32918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B44C"/>
                </a:solidFill>
                <a:latin typeface="Georgia"/>
              </a:rPr>
              <a:t>2028-30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F6EF"/>
                </a:solidFill>
                <a:latin typeface="Calibri"/>
              </a:rPr>
              <a:t>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832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7E4DC"/>
                </a:solidFill>
                <a:latin typeface="Calibri"/>
              </a:rPr>
              <a:t>Category captain: 20+ countries, Net-0 carbon, ayurvedic beverages = a named global category.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532120"/>
            <a:ext cx="10652760" cy="77724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715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2A1D"/>
                </a:solidFill>
                <a:latin typeface="Calibri"/>
              </a:rPr>
              <a:t>THE END GAME: SVASTA becomes to Ayurveda what Coca-Cola is to cola — the default global name, with dignity built 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9B44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E9B44C"/>
                </a:solidFill>
                <a:latin typeface="Calibri"/>
              </a:rPr>
              <a:t>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AF6EF"/>
                </a:solidFill>
                <a:latin typeface="Georgia"/>
              </a:rPr>
              <a:t>Your Body Knows. Now You Do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9B44C"/>
                </a:solidFill>
                <a:latin typeface="Calibri"/>
              </a:rPr>
              <a:t>Ancient Wisdom. Bottled for the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7E4DC"/>
                </a:solidFill>
                <a:latin typeface="Calibri"/>
              </a:rPr>
              <a:t>hello@svasta.com  ·  svasta.com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FB8A8"/>
                </a:solidFill>
                <a:latin typeface="Calibri"/>
              </a:rPr>
              <a:t>© 2026 SVASTA Wellness Pvt. Ltd.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9B44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